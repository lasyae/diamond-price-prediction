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6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yareddy ETTADI" userId="ae2576ec9caa5af0" providerId="LiveId" clId="{A65B96E2-54B3-4AFD-AA85-6322A8C5BF29}"/>
    <pc:docChg chg="modSld">
      <pc:chgData name="Lasyareddy ETTADI" userId="ae2576ec9caa5af0" providerId="LiveId" clId="{A65B96E2-54B3-4AFD-AA85-6322A8C5BF29}" dt="2026-07-08T04:45:47.652" v="0" actId="1036"/>
      <pc:docMkLst>
        <pc:docMk/>
      </pc:docMkLst>
      <pc:sldChg chg="modSp mod">
        <pc:chgData name="Lasyareddy ETTADI" userId="ae2576ec9caa5af0" providerId="LiveId" clId="{A65B96E2-54B3-4AFD-AA85-6322A8C5BF29}" dt="2026-07-08T04:45:47.652" v="0" actId="1036"/>
        <pc:sldMkLst>
          <pc:docMk/>
          <pc:sldMk cId="0" sldId="256"/>
        </pc:sldMkLst>
        <pc:spChg chg="mod">
          <ac:chgData name="Lasyareddy ETTADI" userId="ae2576ec9caa5af0" providerId="LiveId" clId="{A65B96E2-54B3-4AFD-AA85-6322A8C5BF29}" dt="2026-07-08T04:45:47.652" v="0" actId="1036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02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iamond-price-prediction-rplveaqu2q3azbdmzqwwvq.streamlit.app/" TargetMode="Externa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241280" y="457200"/>
            <a:ext cx="822960" cy="822960"/>
          </a:xfrm>
          <a:prstGeom prst="rect">
            <a:avLst/>
          </a:prstGeom>
          <a:solidFill>
            <a:srgbClr val="CADCF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1064240" y="1463040"/>
            <a:ext cx="457200" cy="457200"/>
          </a:xfrm>
          <a:prstGeom prst="rect">
            <a:avLst/>
          </a:prstGeom>
          <a:solidFill>
            <a:srgbClr val="CADCF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9692640" y="1554480"/>
            <a:ext cx="365760" cy="365760"/>
          </a:xfrm>
          <a:prstGeom prst="rect">
            <a:avLst/>
          </a:prstGeom>
          <a:solidFill>
            <a:srgbClr val="CADCFC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ppt/icon_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6389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0629" y="1182657"/>
            <a:ext cx="12061371" cy="139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Diamond Prices with Machine Learning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10789920" cy="2514600"/>
          </a:xfrm>
          <a:prstGeom prst="rect">
            <a:avLst/>
          </a:prstGeom>
          <a:solidFill>
            <a:srgbClr val="141B49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384048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 are priced using the “Four Cs” — Carat, Cut, Colour, Clarity — alongside physical dimensions (depth, table, x, y, z), making manual valuation complex, inconsistent, and expert-dependent.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Buyers, sellers and jewellers need a fast, objective way to estimate a fair diamond price directly from its measurable characteristics, without relying solely on a gemmologist's judgement.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regression-based machine learning model that learns the relationship between a diamond's attributes and its market price, compare multiple algorithms, and deploy the best model as a usable web application.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3F5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91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53,940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2313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 recorded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3F5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7240" y="3730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attributes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3F5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4526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77240" y="5148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features used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69080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069080" y="1947672"/>
            <a:ext cx="36846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of the diamond — the primary driver of size and price.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68139" y="1600200"/>
            <a:ext cx="26704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668139" y="1947672"/>
            <a:ext cx="352386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shaping and faceting; affects brilliance and sparkle.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069080" y="30175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69080" y="336499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D (colourless) to Z (light yellow/brown).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593494" y="3017520"/>
            <a:ext cx="33870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68139" y="3364991"/>
            <a:ext cx="3405673" cy="91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inclusions/blemishes, from Flawless to Included.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069080" y="44348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Table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069080" y="47823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top-facet size, each as a % of diameter.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668139" y="4434839"/>
            <a:ext cx="3246493" cy="426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668139" y="4754880"/>
            <a:ext cx="324649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width and depth of the stone in millimetres.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Price (USD)  •  Source: classic Diamonds dataset (diamonds.csv), used in its original, unmodified form for this project.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Distributions &amp; 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nb_images/cell29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3246120" cy="2423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— right-skewed (skew = 1.62)</a:t>
            </a:r>
            <a:endParaRPr lang="en-US" sz="1050" dirty="0"/>
          </a:p>
        </p:txBody>
      </p:sp>
      <p:pic>
        <p:nvPicPr>
          <p:cNvPr id="8" name="Image 2" descr="/home/claude/nb_images/cell32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508760"/>
            <a:ext cx="3246120" cy="2423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7764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count by Cut quality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146 duplicate rows removed; 0 missing values found.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records with x, y or z = 0 dropped (physically impossible dimensions).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Skewness: carat (1.11) and price (1.62) are highly skewed; y and z showed extreme outliers before cleaning.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check: cut, color and clarity contain only valid, standard grading values.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Cut: Ideal is the most common grade, followed by Premium and Very Good.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48640" y="4709160"/>
            <a:ext cx="6675120" cy="1234440"/>
          </a:xfrm>
          <a:prstGeom prst="rect">
            <a:avLst/>
          </a:prstGeom>
          <a:solidFill>
            <a:srgbClr val="F3F5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777240" y="484632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outlier trimming (y, z &lt; 20), skewness for y and z fell to ~0.39; log transformation (log1p) was applied to carat and price, reducing price skew from 1.62 to 0.12.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Correlations &amp; Relationships with Price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nb_images/cell43_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3429000" cy="2715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251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(numeric features)</a:t>
            </a:r>
            <a:endParaRPr lang="en-US" sz="1050" dirty="0"/>
          </a:p>
        </p:txBody>
      </p:sp>
      <p:pic>
        <p:nvPicPr>
          <p:cNvPr id="8" name="Image 2" descr="/home/claude/nb_images/cell38_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508760"/>
            <a:ext cx="3246120" cy="23774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51960" y="39136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 vs. Price — strong positive trend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7818120" y="14630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correlates strongly with carat, x, y and z (all ≈ 0.9+); these dimensions move almost identically with carat.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table show weak, scattered relationships with price — little standalone predictive power.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is paradoxically lower for the Ideal cut than for Fair/Premium, since price is driven jointly by multiple features, not cut alone.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correlation among carat, x, y, z signals multicollinearity — addressed later via VIF and regularisation.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48640" y="4709160"/>
            <a:ext cx="6949440" cy="1234440"/>
          </a:xfrm>
          <a:prstGeom prst="rect">
            <a:avLst/>
          </a:prstGeom>
          <a:solidFill>
            <a:srgbClr val="F3F5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777240" y="484632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check (IQR method): carat, depth, table and price have many outliers, but these are valid — diamonds legitimately span that range. Only unrealistic x/y/z dimension values were removed.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 &amp; Models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ppt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15270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of cut, color, clarity (using their natural quality order, not alphabetical)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" y="24871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(log1p) of carat &amp; price to correct skewness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4300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check for multicollinearity among carat, x, y, z, depth, table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43000" y="440740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train-test split; StandardScaler applied for Linear Regression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903720" y="16002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160020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464040" y="16002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0" y="160020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903720" y="2880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23" name="Text 20"/>
          <p:cNvSpPr/>
          <p:nvPr/>
        </p:nvSpPr>
        <p:spPr>
          <a:xfrm>
            <a:off x="7040880" y="28803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464040" y="2880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0" y="28803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903720" y="41605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27" name="Text 24"/>
          <p:cNvSpPr/>
          <p:nvPr/>
        </p:nvSpPr>
        <p:spPr>
          <a:xfrm>
            <a:off x="7040880" y="416052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9464040" y="41605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29" name="Text 26"/>
          <p:cNvSpPr/>
          <p:nvPr/>
        </p:nvSpPr>
        <p:spPr>
          <a:xfrm>
            <a:off x="9601200" y="416052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assumptions — linearity, normality, homoscedasticity, independence, multicollinearity — were formally validated (see Results).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After Hyperparameter Tuning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680960" cy="2743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275,156.09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286,690.98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535.44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297,554.28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305,308.34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552.55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405,053.12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RandomizedSearchCV (5-fold CV, 10 candidates per model). CatBoost's best parameters: depth = 7, learning rate = 0.1, iterations = 300.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503920" y="1600200"/>
            <a:ext cx="3154680" cy="3474720"/>
          </a:xfrm>
          <a:prstGeom prst="rect">
            <a:avLst/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7325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732520" y="2057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Regressor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732520" y="29260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◆"/>
            </a:pPr>
            <a:r>
              <a:rPr lang="en-US" sz="1250" dirty="0">
                <a:solidFill>
                  <a:srgbClr val="FFFFFF"/>
                </a:solidFill>
              </a:rPr>
              <a:t>Highest Test R² (98.25%)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◆"/>
            </a:pPr>
            <a:r>
              <a:rPr lang="en-US" sz="1250" dirty="0">
                <a:solidFill>
                  <a:srgbClr val="FFFFFF"/>
                </a:solidFill>
              </a:rPr>
              <a:t>Lowest RMSE (524.55)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◆"/>
            </a:pPr>
            <a:r>
              <a:rPr lang="en-US" sz="1250" dirty="0">
                <a:solidFill>
                  <a:srgbClr val="FFFFFF"/>
                </a:solidFill>
              </a:rPr>
              <a:t>Best generalisation gap vs. train score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◆"/>
            </a:pPr>
            <a:r>
              <a:rPr lang="en-US" sz="1250" dirty="0">
                <a:solidFill>
                  <a:srgbClr val="FFFFFF"/>
                </a:solidFill>
              </a:rPr>
              <a:t>Handles categorical + numeric features natively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Performance &amp; Feature Importance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_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3F5F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5544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3F5FC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98.26%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8328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CV R² (5-fold)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0" y="15544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3F5FC"/>
          </a:solidFill>
          <a:ln/>
        </p:spPr>
      </p:sp>
      <p:sp>
        <p:nvSpPr>
          <p:cNvPr id="13" name="Text 10"/>
          <p:cNvSpPr/>
          <p:nvPr/>
        </p:nvSpPr>
        <p:spPr>
          <a:xfrm>
            <a:off x="608076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524.55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08076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(USD)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41080" y="15544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3F5FC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0" y="1645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278.79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77824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(USD)</a:t>
            </a:r>
            <a:endParaRPr lang="en-US" sz="1150" dirty="0"/>
          </a:p>
        </p:txBody>
      </p:sp>
      <p:pic>
        <p:nvPicPr>
          <p:cNvPr id="18" name="Image 1" descr="/home/claude/nb_images/cell132_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4480560" cy="32461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" y="6355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feature importance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394960" y="3303037"/>
            <a:ext cx="5943600" cy="30063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CatBoost was validated using 5-fold shuffled K-Fold cross-validation: mean R² = 98.26%, std. dev. = 0.0005 — confirming stability across data splits.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y (width) and carat as the two dominant predictors, followed by clarity and color.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differs slightly from the untuned Decision Tree, where carat ranked first — importance is model-dependent.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Depth, table, x, z and cut contribute comparatively little once carat and y are accounted for.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Assumption Checks (Log-Linear Model)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pic>
        <p:nvPicPr>
          <p:cNvPr id="6" name="Image 1" descr="/home/claude/nb_images/cell100_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3337560" cy="2496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023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(log price)</a:t>
            </a:r>
            <a:endParaRPr lang="en-US" sz="1050" dirty="0"/>
          </a:p>
        </p:txBody>
      </p:sp>
      <p:pic>
        <p:nvPicPr>
          <p:cNvPr id="8" name="Image 2" descr="/home/claude/nb_images/cell102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1508760"/>
            <a:ext cx="3337560" cy="24963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69080" y="4023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distribution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7635240" y="1499429"/>
            <a:ext cx="3977640" cy="2671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Linearity: predictions closely track actual values; only a few outliers show larger error.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Normality: residuals are bell-shaped and centred at zero.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Homoscedasticity: residual spread is broadly constant, with a mild trend at higher predictions.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Independence: Durbin-Watson statistic = 2.01 (within the 1.5-2.5 acceptable band).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4709160"/>
            <a:ext cx="11064240" cy="1417320"/>
          </a:xfrm>
          <a:prstGeom prst="rect">
            <a:avLst/>
          </a:prstGeom>
          <a:solidFill>
            <a:srgbClr val="F3F5F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822960" y="48463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log-transformed carat &amp; price, Linear Regression reached Train R² = 97.41% and Test R² = 97.28% (up from ~90% before transformation) — all core assumptions reasonably satisfied. However, the tuned CatBoost model still outperforms it (Test R² = 98.25%) and was selected as the final production model.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ppt/icon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74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feature set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fluorescence, symmetry, polish and certificate lab (GIA/IGI) grades for finer-grained pricing.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9"/>
          </a:solidFill>
          <a:ln/>
        </p:spPr>
      </p:sp>
      <p:sp>
        <p:nvSpPr>
          <p:cNvPr id="10" name="Text 7"/>
          <p:cNvSpPr/>
          <p:nvPr/>
        </p:nvSpPr>
        <p:spPr>
          <a:xfrm>
            <a:off x="4553712" y="1874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53712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neural network regressors and stacked/blended ensembles to push accuracy beyond CatBoost.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01584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9"/>
          </a:solidFill>
          <a:ln/>
        </p:spPr>
      </p:sp>
      <p:sp>
        <p:nvSpPr>
          <p:cNvPr id="13" name="Text 10"/>
          <p:cNvSpPr/>
          <p:nvPr/>
        </p:nvSpPr>
        <p:spPr>
          <a:xfrm>
            <a:off x="8330184" y="1874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330184" y="22860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explanations so users see why a specific price was predicted, not just the number.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547872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7307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recalibration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77240" y="41422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retrain on fresh market data so predictions track real-world price drift over time.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25112" y="3547872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9"/>
          </a:solidFill>
          <a:ln/>
        </p:spPr>
      </p:sp>
      <p:sp>
        <p:nvSpPr>
          <p:cNvPr id="19" name="Text 16"/>
          <p:cNvSpPr/>
          <p:nvPr/>
        </p:nvSpPr>
        <p:spPr>
          <a:xfrm>
            <a:off x="4553712" y="37307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grading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553712" y="41422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computer vision on diamond images/certificates to auto-fill cut, color and clarity inputs.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101584" y="3547872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9"/>
          </a:solidFill>
          <a:ln/>
        </p:spPr>
      </p:sp>
      <p:sp>
        <p:nvSpPr>
          <p:cNvPr id="22" name="Text 19"/>
          <p:cNvSpPr/>
          <p:nvPr/>
        </p:nvSpPr>
        <p:spPr>
          <a:xfrm>
            <a:off x="8330184" y="37307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bulk pricing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330184" y="41422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REST API for jewellers/e-commerce platforms to price entire inventories programmatically.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Web Application on Streamlit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37392" y="365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55" y="501823"/>
            <a:ext cx="294803" cy="2948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7040880" cy="4663440"/>
          </a:xfrm>
          <a:prstGeom prst="rect">
            <a:avLst/>
          </a:prstGeom>
          <a:solidFill>
            <a:srgbClr val="F3F5FC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tuned CatBoost model is deployed as an interactive Streamlit web app — no installation or code required.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a diamond's carat, cut, color, clarity, depth, table and x/y/z dimensions through simple form inputs.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returns an instant predicted price, making the model directly usable by buyers, sellers and jewellers.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Python: pandas &amp; scikit-learn/CatBoost for modeling, Streamlit for the front end, hosted on Streamlit Community Cloud.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63840" y="1554480"/>
            <a:ext cx="3794760" cy="4663440"/>
          </a:xfrm>
          <a:prstGeom prst="rect">
            <a:avLst/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1783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TRY IT LIVE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32520" y="2240280"/>
            <a:ext cx="2057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pic>
        <p:nvPicPr>
          <p:cNvPr id="11" name="Image 1" descr="/home/claude/ppt/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377440"/>
            <a:ext cx="1783080" cy="1783080"/>
          </a:xfrm>
          <a:prstGeom prst="rect">
            <a:avLst/>
          </a:prstGeom>
        </p:spPr>
      </p:pic>
      <p:sp>
        <p:nvSpPr>
          <p:cNvPr id="12" name="Text 8">
            <a:hlinkClick r:id="rId5"/>
          </p:cNvPr>
          <p:cNvSpPr/>
          <p:nvPr/>
        </p:nvSpPr>
        <p:spPr>
          <a:xfrm>
            <a:off x="8001000" y="44805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diamond-price-prediction-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rplveaqu2q3azbdmzqwwvq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.streamlit.app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001000" y="5486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• Live • Interactive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1251</Words>
  <Application>Microsoft Office PowerPoint</Application>
  <PresentationFormat>Widescreen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Price Prediction</dc:title>
  <dc:subject>PptxGenJS Presentation</dc:subject>
  <dc:creator>Diamond Price Prediction Project</dc:creator>
  <cp:lastModifiedBy>Lasyareddy ETTADI</cp:lastModifiedBy>
  <cp:revision>2</cp:revision>
  <dcterms:created xsi:type="dcterms:W3CDTF">2026-07-06T09:57:53Z</dcterms:created>
  <dcterms:modified xsi:type="dcterms:W3CDTF">2026-07-08T04:45:58Z</dcterms:modified>
</cp:coreProperties>
</file>